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把今天的气氛定下来：这不是一场“方法清单”的讲座，而是一小时的田野入门工作坊。我们会从经典人类学出发，走到感官民族志、数字田野和伦理反思。关键词不是完美方法，而是进入关系、保持敏感、学会反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这套结构不是按理论难度排序，而是按一个初学者真正进入田野时会遇到的问题顺序来排。先知道自己在做什么，再处理身份，再学习如何观察，最后谈当下媒介环境和伦理责任。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把田野从旅游、采访、问卷里区分出来。田野调查是一种进入社会生活内部的方式。Emic 是局内人的意义世界，Etic 是研究者带着比较视角做出的分析。好的民族志是在两者之间来回移动。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早期人类学家常常坐在书房里分析别人带回来的材料，所以被称为摇椅人类学。现代长期田野调查的科学标准通常归到马林诺夫斯基这里。把帐篷搭在村庄里不是浪漫姿态，而是方法要求。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马林诺夫斯基把资料类型分得很清楚。第一类是结构材料，第二类是不可测入的日常生活细节，第三类是当地人的观念和表达。初学者要避免只记访谈录音或只做观察，三类材料要一起做。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田野关系里每个人都在做印象管理。Berreman 在喜马拉雅山村发现，自己听到什么、谁愿意说、说到什么程度，很大程度取决于翻译和向导的身份。研究者要记录自己的身份如何影响资料。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Going Native 常被翻成过度本土化。经典训练里，研究者要避免完全失去分析距离；现代民族志又会反问，如果完全不让自己被触动，真的理解了吗？重点是既要走进去，也要退出来记录自己如何被改变。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双日志法要求初学者不要只记发生了什么，还要记自己在发生时的反应。事实笔记尽量朴素，反思笔记记录身体和情绪。文化震荡不是失败，而是分析的起点。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传统民族志特别依赖看和写，但人类经验从来不是单一视觉经验。Stoller 在尼日尔研究 Songhay 社会时发现，如果不去品尝食物、不感受烈日和沙尘，就很难理解当地人如何把味道和巫术、权力、知识联系起来。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Feld 的关键不只是录音，而是把录音拿回去和 Kaluli 人一起听、一起讨论。这就是对话式编辑。研究者不是把资料带回大学里独自解释，而是让当地人参与解释这些声音意味着什么。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研究咖啡馆、菜市场、独立书店时，不要一上来只做访谈。先做声音测绘，再记录温度、气味、触感、食物味道，最后把传单、收据、菜单、包装、座位照片和访谈放在一起看。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多点田野回应全球化之后的变化。文化不再固定在一个村庄里，很多社会现象本来就是跨地点、跨组织、跨平台流动的。多点不是到处跑，而是有清晰追踪对象。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传统上田野有明确结束点：离开田野点，回到书桌。但电话、微信、社交媒体和跨国关系让边界变模糊。Sluka 的例子说明，田野不只是地理位置，也是一种关系。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滚雪球不只是让受访者介绍更多人，也可以追踪他们所在的线上社区、社交平台和内容流动。影子随行适合平台劳动、校园生活、消费空间和教育场景。数字田野不是伦理豁免区。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伦理不止是拿到签名，而是面对一场不平等的权力相遇。研究者通常拥有文化资本、机构资源和写作权，而受访者提供的是自己的生活、痛苦、劳动和故事。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Compassionate turn 是伦理模块的情感核心。当田野面对贫困、疾病、暴力、不平等时，人类学家不能只说自己是中立观察者。足够好的民族志不是降低标准，而是承认真实世界里田野永远不完美。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初学者做小田野时也可以实践互惠。不要站在理论高地上说话，匿名也不是只把名字换成 A、B。离开田野前想一想能留下什么，回馈不一定宏大，但要真诚和具体。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最后用五分钟把全场带回身体。请大家闭上眼睛一分钟，听空调声、呼吸声、笔尖声、窗外车流，感受座位、温度、身体紧张程度。收尾时扣回马林诺夫斯基的不可测入的日常生活细节。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5257800" y="393192"/>
            <a:ext cx="3429000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3533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QUALITATIVE RESEARCH WORKSHOP · 60 MIN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71907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E1F33"/>
                </a:solidFill>
              </a:rPr>
              <a:t>重返田野的温度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68680" y="2761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6FB0"/>
                </a:solidFill>
              </a:rPr>
              <a:t>质性研究与田野调查方法论工作坊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68680" y="34381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A5778"/>
                </a:solidFill>
              </a:rPr>
              <a:t>从“参与观察”到“感官与反思”的学术成人礼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96112" y="4160520"/>
            <a:ext cx="960120" cy="384048"/>
          </a:xfrm>
          <a:prstGeom prst="roundRect">
            <a:avLst>
              <a:gd name="adj" fmla="val 380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427024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E1F33"/>
                </a:solidFill>
              </a:rPr>
              <a:t>主讲人：小柳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2112264" y="4160520"/>
            <a:ext cx="960120" cy="384048"/>
          </a:xfrm>
          <a:prstGeom prst="roundRect">
            <a:avLst>
              <a:gd name="adj" fmla="val 380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85416" y="427024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E1F33"/>
                </a:solidFill>
              </a:rPr>
              <a:t>60 分钟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328416" y="4160520"/>
            <a:ext cx="1417320" cy="384048"/>
          </a:xfrm>
          <a:prstGeom prst="roundRect">
            <a:avLst>
              <a:gd name="adj" fmla="val 380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4270248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E1F33"/>
                </a:solidFill>
              </a:rPr>
              <a:t>社会人类学入门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WORKSHOP MAP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五个模块，一条入门路径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1865376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71576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200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田野起点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6118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10 min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2953512" y="2514600"/>
            <a:ext cx="1865376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271576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9544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182112" y="3200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身份关系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82112" y="36118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12 min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5038344" y="2514600"/>
            <a:ext cx="1865376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66944" y="271576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94376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66944" y="3200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感官田野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66944" y="36118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13 min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7123176" y="2514600"/>
            <a:ext cx="1865376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51776" y="271576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79208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351776" y="3200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现代田野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51776" y="36118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13 min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9208008" y="2514600"/>
            <a:ext cx="1865376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436608" y="271576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64040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436608" y="320040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伦理互惠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436608" y="36118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10 min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每一模块都回答三个问题：概念是什么？经典案例怎么做？初学者明天可以怎么练？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1 · 起点与范式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什么是田野？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A5778"/>
                </a:solidFill>
              </a:rPr>
              <a:t>田野调查不是简单“收集数据”，而是科学训练与人文感知的交汇。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24612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3456432"/>
            <a:ext cx="47731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E1F33"/>
                </a:solidFill>
              </a:rPr>
              <a:t>“人类学是科学中最具人文关怀的，也是人文科学中最具科学性的。”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E1F33"/>
                </a:solidFill>
              </a:rPr>
              <a:t>— Alfred Kroeber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46520" y="2148840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2768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文化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80960" y="2148840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08392" y="22768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参与观察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148840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42832" y="2276856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跨文化比较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46520" y="2807208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73952" y="2935224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整体性视角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2807208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08392" y="2935224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Emic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915400" y="2807208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42832" y="2935224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Etic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46520" y="3465576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35935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人文主义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80960" y="3465576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08392" y="35935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科学主义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15400" y="3465576"/>
            <a:ext cx="1024128" cy="393192"/>
          </a:xfrm>
          <a:prstGeom prst="roundRect">
            <a:avLst>
              <a:gd name="adj" fmla="val 41860"/>
            </a:avLst>
          </a:prstGeom>
          <a:solidFill>
            <a:srgbClr val="DCEAF7"/>
          </a:solidFill>
          <a:ln w="12700">
            <a:solidFill>
              <a:srgbClr val="C9D8E8">
                <a:alpha val="4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42832" y="3593592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F33"/>
                </a:solidFill>
              </a:rPr>
              <a:t>长期关系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HISTORY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从“摇椅”到“帐篷”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19 世纪末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摇椅人类学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依赖传教士、官员、旅行者的二手资料。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Boas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抢救性收集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强调第一手资料和文化特殊性，但多为短期走访。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Malinowski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长期田野标准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离开殖民者舒适区，把帐篷搭进村庄。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特罗布里恩群岛：用当地语言交流，沉浸日常生活的河流。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TOOLBOX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马氏“三大法宝”怎么用？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结构轮廓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谱系、图表、人口统计，用“硬数据”画出组织结构。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不可测入的日常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吃饭、争吵、语气、距离、等待、沉默，只能靠观察积累。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当地人的心智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神话、传说、原话口述，理解他们如何解释自己的世界。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2 · 身份与关系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印象管理：田野中的“戴面具”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5694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核心概念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044952"/>
            <a:ext cx="4526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田野关系不是自然发生的，而是双方互相试探、贴标签、管理印象的过程。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5694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Gerald Berreman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3044952"/>
            <a:ext cx="4526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Behind Many Masks 中，翻译/向导的身份会改变村民展现的“前台”和“后台”。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换一个协助者，可能就换了一套田野现实。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BALANCE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“Going Native”的迷思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24028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DCEAF7"/>
          </a:solidFill>
          <a:ln w="12700">
            <a:solidFill>
              <a:srgbClr val="C9D8E8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5054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FB0"/>
                </a:solidFill>
              </a:rPr>
              <a:t>Step in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2926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A5778"/>
                </a:solidFill>
              </a:rPr>
              <a:t>走进去：共情、学习语言、参与身体经验。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6309360" y="224028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DDF3F3"/>
          </a:solidFill>
          <a:ln w="12700">
            <a:solidFill>
              <a:srgbClr val="C9D8E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5054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6FB0"/>
                </a:solidFill>
              </a:rPr>
              <a:t>Step out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83680" y="2926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A5778"/>
                </a:solidFill>
              </a:rPr>
              <a:t>退出来：记录位置、分析权力、保持反思距离。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68680" y="3977640"/>
            <a:ext cx="10378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4215384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Edie Turner 与 Ndembu 仪式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4690872"/>
            <a:ext cx="9921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她在赞比亚驱魔仪式中宣称“看见”精神气旋被拔出，挑战了冷酷客观的西方理性边界。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TOOLBOX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反思性田野日志：双日志法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6151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事实笔记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090672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时间、地点、人物、对话原话、客观行为描述。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09360" y="23774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6151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反思笔记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3090672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尴尬、愤怒、挫败、被拒绝、个人偏见和文化震荡。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最不适、最奇怪、最冒犯的时刻，常常就是两个文化系统碰撞的入口。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3 · 感官田野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超越视觉中心主义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960120" y="2304288"/>
            <a:ext cx="987552" cy="987552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6609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视觉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53512" y="2304288"/>
            <a:ext cx="987552" cy="987552"/>
          </a:xfrm>
          <a:prstGeom prst="ellipse">
            <a:avLst/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53512" y="26609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听觉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46904" y="2304288"/>
            <a:ext cx="987552" cy="987552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46904" y="26609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嗅觉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0296" y="2304288"/>
            <a:ext cx="987552" cy="987552"/>
          </a:xfrm>
          <a:prstGeom prst="ellipse">
            <a:avLst/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0296" y="26609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味觉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33688" y="2304288"/>
            <a:ext cx="987552" cy="987552"/>
          </a:xfrm>
          <a:prstGeom prst="ellipse">
            <a:avLst/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33688" y="266090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触觉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069080"/>
            <a:ext cx="7680960" cy="1207008"/>
          </a:xfrm>
          <a:prstGeom prst="roundRect">
            <a:avLst>
              <a:gd name="adj" fmla="val 606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97280" y="430682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Paul Stoller &amp; Cheryl Olkes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" y="4782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在 Songhay 社会中，“味道”不仅是饮食经验，也是巫术、知识和权力的分类方式。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DIALOGIC EDITING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声音、情感与共同阐释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24028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3008376"/>
            <a:ext cx="146304" cy="658368"/>
          </a:xfrm>
          <a:prstGeom prst="roundRect">
            <a:avLst>
              <a:gd name="adj" fmla="val 31250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64792" y="2766060"/>
            <a:ext cx="146304" cy="1143000"/>
          </a:xfrm>
          <a:prstGeom prst="roundRect">
            <a:avLst>
              <a:gd name="adj" fmla="val 31250"/>
            </a:avLst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12264" y="2491740"/>
            <a:ext cx="146304" cy="1691640"/>
          </a:xfrm>
          <a:prstGeom prst="roundRect">
            <a:avLst>
              <a:gd name="adj" fmla="val 31250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9736" y="2857500"/>
            <a:ext cx="146304" cy="960120"/>
          </a:xfrm>
          <a:prstGeom prst="roundRect">
            <a:avLst>
              <a:gd name="adj" fmla="val 31250"/>
            </a:avLst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07208" y="2606040"/>
            <a:ext cx="146304" cy="1463040"/>
          </a:xfrm>
          <a:prstGeom prst="roundRect">
            <a:avLst>
              <a:gd name="adj" fmla="val 31250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2935224"/>
            <a:ext cx="146304" cy="804672"/>
          </a:xfrm>
          <a:prstGeom prst="roundRect">
            <a:avLst>
              <a:gd name="adj" fmla="val 31250"/>
            </a:avLst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331720"/>
            <a:ext cx="662940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2569464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Steven Feld 与 Kaluli 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46320" y="3044952"/>
            <a:ext cx="6172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录下鸟鸣、瀑布、哭泣声，再把录音带回给当地人共同讨论其中的丧亲之痛与诗学隐喻。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当地人不是“资料来源”，而是共同阐释者。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TOOLBOX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多感官“田野物证堆叠法”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听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声音测绘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静坐 5 分钟，闭眼画一张声音景观图。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尝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味觉与触觉档案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记录温度、颗粒感、食物刺激、桌椅材质。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收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微型档案夹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访谈、传单、收据、气味标签、物件材料一起保存。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4 · 现代田野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空间破壁：多点田野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423160"/>
            <a:ext cx="2240280" cy="1572768"/>
          </a:xfrm>
          <a:prstGeom prst="roundRect">
            <a:avLst>
              <a:gd name="adj" fmla="val 6977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816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群体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跨国科学家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2423160"/>
            <a:ext cx="2240280" cy="1572768"/>
          </a:xfrm>
          <a:prstGeom prst="roundRect">
            <a:avLst>
              <a:gd name="adj" fmla="val 6977"/>
            </a:avLst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2816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物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611880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电子垃圾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2423160"/>
            <a:ext cx="2240280" cy="1572768"/>
          </a:xfrm>
          <a:prstGeom prst="roundRect">
            <a:avLst>
              <a:gd name="adj" fmla="val 6977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2816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隐喻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217920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欧洲一体化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86800" y="2423160"/>
            <a:ext cx="2240280" cy="1572768"/>
          </a:xfrm>
          <a:prstGeom prst="roundRect">
            <a:avLst>
              <a:gd name="adj" fmla="val 6977"/>
            </a:avLst>
          </a:prstGeom>
          <a:solidFill>
            <a:srgbClr val="17B1B1"/>
          </a:solidFill>
          <a:ln w="12700">
            <a:solidFill>
              <a:srgbClr val="17B1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3960" y="2816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冲突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823960" y="32735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资本与地方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方法关键词：Following，追踪流动中的人、物、观念和矛盾。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BEING THERE?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被重新定义的“在场”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5694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传统田野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044952"/>
            <a:ext cx="4526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离开田野点，回到书桌，进入分析与写作。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25694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Jeffrey Sluka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3044952"/>
            <a:ext cx="4526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北爱尔兰长期研究后，核心线人遇刺；多年后仍通过跨国电话完成深度访谈。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身体不在现场，信任关系仍然让田野继续发生。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TOOLBOX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数字与移动追踪怎么开始？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6151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滚雪球追踪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090672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从线下访谈延伸到微信群、小红书社群、平台评论和转发网络。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09360" y="237744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6151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影子随行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3090672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观察一个人在物理街道与数字屏幕之间如何切换行动。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例子：外卖骑手如何同时回应路况、系统派单、顾客催促和身体疲劳？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MODULE 5 · 伦理与互惠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伦理不只是“签同意书”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权力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谁在讲谁的故事？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学者常用他人的痛苦、劳动和经验换取学术资本。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反击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The Other Talks Back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原住民与底层社会质问人类学的观看位置。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责任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不伤害之外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从合规走向关系中的尊重、解释、回馈。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COMPASSIONATE TURN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走向同理心与“足够好的民族志”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8686800" cy="1920240"/>
          </a:xfrm>
          <a:prstGeom prst="roundRect">
            <a:avLst>
              <a:gd name="adj" fmla="val 476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697480"/>
            <a:ext cx="8092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</a:rPr>
              <a:t>面对苦难、疾病与不平等，人类学家不能只是冷酷的窥视者。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1F33"/>
                </a:solidFill>
              </a:rPr>
              <a:t>Nancy Scheper-Hughes · Good-enough ethnography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记录、倾听、陪伴，也可以成为休戚与共的团结行动。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TOOLBOX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互惠的日常实践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说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拒绝理论高地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用当地人听得懂的话沟通，避免学术话语压人。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护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保护匿名与边界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可识别细节、截图、录音与引用都要谨慎处理。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还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留下有用之物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A5778"/>
                </a:solidFill>
              </a:rPr>
              <a:t>建议书、课程评估、Zine、小报或非学术反馈。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 w="12700">
            <a:solidFill>
              <a:srgbClr val="F2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82880"/>
            <a:ext cx="11795760" cy="6473952"/>
          </a:xfrm>
          <a:prstGeom prst="roundRect">
            <a:avLst>
              <a:gd name="adj" fmla="val 1695"/>
            </a:avLst>
          </a:prstGeom>
          <a:solidFill>
            <a:srgbClr val="F2F6FB">
              <a:alpha val="0"/>
            </a:srgbClr>
          </a:solidFill>
          <a:ln w="10160">
            <a:solidFill>
              <a:srgbClr val="C9D8E8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60520"/>
            <a:ext cx="4206240" cy="4206240"/>
          </a:xfrm>
          <a:prstGeom prst="arc">
            <a:avLst/>
          </a:prstGeom>
          <a:solidFill>
            <a:srgbClr val="DDEAF7">
              <a:alpha val="95000"/>
            </a:srgbClr>
          </a:solidFill>
          <a:ln w="12700">
            <a:solidFill>
              <a:srgbClr val="DDEAF7">
                <a:alpha val="0"/>
              </a:srgbClr>
            </a:solidFill>
            <a:prstDash val="solid"/>
          </a:ln>
        </p:spPr>
      </p:sp>
      <p:pic>
        <p:nvPicPr>
          <p:cNvPr id="5" name="Image 0" descr="/Users/zoeyliu/Documents/Codex/2026-06-04/files-mentioned-by-the-user-28481780539681/outputs/fieldwork-workshop-blue-white/田野方法论课程-1/logo/edelce-logo-transparent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9646920" y="329184"/>
            <a:ext cx="196596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8755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FB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5-MINUTE PRACTICE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68680" y="1353312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E1F33"/>
                </a:solidFill>
              </a:rPr>
              <a:t>现场微型解构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97280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 min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闭上眼睛，听见会议室/教室里的声音。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429000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1688" y="2331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0288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 min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90288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记录空气温度、座位触感、身体姿势和注意力状态。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90288" y="3429000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54696" y="2331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83296" y="2532888"/>
            <a:ext cx="566928" cy="301752"/>
          </a:xfrm>
          <a:prstGeom prst="roundRect">
            <a:avLst>
              <a:gd name="adj" fmla="val 45455"/>
            </a:avLst>
          </a:prstGeom>
          <a:solidFill>
            <a:srgbClr val="1E6FB0"/>
          </a:solidFill>
          <a:ln w="12700">
            <a:solidFill>
              <a:srgbClr val="1E6F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0728" y="257860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 min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83296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1F33"/>
                </a:solidFill>
              </a:rPr>
              <a:t>讨论：这些感官细节透露了什么制度压力？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83296" y="3429000"/>
            <a:ext cx="2788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868680" y="5532120"/>
            <a:ext cx="10469880" cy="667512"/>
          </a:xfrm>
          <a:prstGeom prst="roundRect">
            <a:avLst>
              <a:gd name="adj" fmla="val 109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C9D8E8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A5B8CC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97280" y="568756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1F33"/>
                </a:solidFill>
              </a:rPr>
              <a:t>如果要写“高压下的现代大学生/研究者学术生活”民族志，声音和身体会告诉我们什么？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4592" y="6601968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819B">
                    <a:alpha val="85000"/>
                  </a:srgbClr>
                </a:solidFill>
              </a:rPr>
              <a:t>S 演讲者视图 · T 切换主题 · ← → 翻页 · F 全屏 · O 总览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EDELCE International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重返田野的温度</dc:title>
  <dc:subject>质性研究与田野调查方法论工作坊</dc:subject>
  <dc:creator>小柳</dc:creator>
  <cp:lastModifiedBy>小柳</cp:lastModifiedBy>
  <cp:revision>1</cp:revision>
  <dcterms:created xsi:type="dcterms:W3CDTF">2026-06-04T05:49:26Z</dcterms:created>
  <dcterms:modified xsi:type="dcterms:W3CDTF">2026-06-04T05:49:26Z</dcterms:modified>
</cp:coreProperties>
</file>